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4" r:id="rId15"/>
    <p:sldId id="260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000000"/>
          </p15:clr>
        </p15:guide>
        <p15:guide id="2" pos="19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125"/>
      </p:cViewPr>
      <p:guideLst>
        <p:guide orient="horz" pos="1440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818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999" name="Rectangle 25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oogle Shape;85;p13"/>
          <p:cNvSpPr/>
          <p:nvPr userDrawn="1"/>
        </p:nvSpPr>
        <p:spPr>
          <a:xfrm>
            <a:off x="318847" y="5938410"/>
            <a:ext cx="1063217" cy="887096"/>
          </a:xfrm>
          <a:custGeom>
            <a:avLst/>
            <a:gdLst/>
            <a:ahLst/>
            <a:cxnLst/>
            <a:rect l="l" t="t" r="r" b="b"/>
            <a:pathLst>
              <a:path w="1592834" h="1328983" extrusionOk="0">
                <a:moveTo>
                  <a:pt x="0" y="0"/>
                </a:moveTo>
                <a:lnTo>
                  <a:pt x="1592834" y="0"/>
                </a:lnTo>
                <a:lnTo>
                  <a:pt x="1592834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5131" t="-38889" r="-23197" b="-38889"/>
            </a:stretch>
          </a:blipFill>
          <a:ln>
            <a:noFill/>
          </a:ln>
        </p:spPr>
      </p:sp>
      <p:sp>
        <p:nvSpPr>
          <p:cNvPr id="6" name="Google Shape;86;p13"/>
          <p:cNvSpPr/>
          <p:nvPr userDrawn="1"/>
        </p:nvSpPr>
        <p:spPr>
          <a:xfrm>
            <a:off x="1525663" y="5990114"/>
            <a:ext cx="671050" cy="826985"/>
          </a:xfrm>
          <a:custGeom>
            <a:avLst/>
            <a:gdLst/>
            <a:ahLst/>
            <a:cxnLst/>
            <a:rect l="l" t="t" r="r" b="b"/>
            <a:pathLst>
              <a:path w="1492606" h="1688150" extrusionOk="0">
                <a:moveTo>
                  <a:pt x="0" y="0"/>
                </a:moveTo>
                <a:lnTo>
                  <a:pt x="1492605" y="0"/>
                </a:lnTo>
                <a:lnTo>
                  <a:pt x="1492605" y="1688149"/>
                </a:lnTo>
                <a:lnTo>
                  <a:pt x="0" y="168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" name="Google Shape;87;p13"/>
          <p:cNvSpPr/>
          <p:nvPr userDrawn="1"/>
        </p:nvSpPr>
        <p:spPr>
          <a:xfrm>
            <a:off x="11059843" y="6031015"/>
            <a:ext cx="1133572" cy="828018"/>
          </a:xfrm>
          <a:custGeom>
            <a:avLst/>
            <a:gdLst/>
            <a:ahLst/>
            <a:cxnLst/>
            <a:rect l="l" t="t" r="r" b="b"/>
            <a:pathLst>
              <a:path w="1698235" h="1240477" extrusionOk="0">
                <a:moveTo>
                  <a:pt x="0" y="0"/>
                </a:moveTo>
                <a:lnTo>
                  <a:pt x="1698235" y="0"/>
                </a:lnTo>
                <a:lnTo>
                  <a:pt x="1698235" y="1240477"/>
                </a:lnTo>
                <a:lnTo>
                  <a:pt x="0" y="1240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9744" t="-34435" r="-17366" b="-26455"/>
            </a:stretch>
          </a:blipFill>
          <a:ln>
            <a:noFill/>
          </a:ln>
        </p:spPr>
      </p:sp>
      <p:sp>
        <p:nvSpPr>
          <p:cNvPr id="8" name="Google Shape;88;p13"/>
          <p:cNvSpPr/>
          <p:nvPr userDrawn="1"/>
        </p:nvSpPr>
        <p:spPr>
          <a:xfrm>
            <a:off x="9350027" y="6031015"/>
            <a:ext cx="1711957" cy="786084"/>
          </a:xfrm>
          <a:custGeom>
            <a:avLst/>
            <a:gdLst/>
            <a:ahLst/>
            <a:cxnLst/>
            <a:rect l="l" t="t" r="r" b="b"/>
            <a:pathLst>
              <a:path w="2568349" h="1196141" extrusionOk="0">
                <a:moveTo>
                  <a:pt x="0" y="0"/>
                </a:moveTo>
                <a:lnTo>
                  <a:pt x="2568349" y="0"/>
                </a:lnTo>
                <a:lnTo>
                  <a:pt x="2568349" y="1196141"/>
                </a:lnTo>
                <a:lnTo>
                  <a:pt x="0" y="1196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" name="Google Shape;89;p13"/>
          <p:cNvSpPr/>
          <p:nvPr userDrawn="1"/>
        </p:nvSpPr>
        <p:spPr>
          <a:xfrm>
            <a:off x="7414987" y="6248504"/>
            <a:ext cx="1821377" cy="466332"/>
          </a:xfrm>
          <a:custGeom>
            <a:avLst/>
            <a:gdLst/>
            <a:ahLst/>
            <a:cxnLst/>
            <a:rect l="l" t="t" r="r" b="b"/>
            <a:pathLst>
              <a:path w="2898936" h="652467" extrusionOk="0">
                <a:moveTo>
                  <a:pt x="0" y="0"/>
                </a:moveTo>
                <a:lnTo>
                  <a:pt x="2898936" y="0"/>
                </a:lnTo>
                <a:lnTo>
                  <a:pt x="2898936" y="652468"/>
                </a:lnTo>
                <a:lnTo>
                  <a:pt x="0" y="65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" name="Google Shape;90;p13"/>
          <p:cNvSpPr/>
          <p:nvPr userDrawn="1"/>
        </p:nvSpPr>
        <p:spPr>
          <a:xfrm>
            <a:off x="5107932" y="6066184"/>
            <a:ext cx="1043486" cy="750916"/>
          </a:xfrm>
          <a:custGeom>
            <a:avLst/>
            <a:gdLst/>
            <a:ahLst/>
            <a:cxnLst/>
            <a:rect l="l" t="t" r="r" b="b"/>
            <a:pathLst>
              <a:path w="1761235" h="1198746" extrusionOk="0">
                <a:moveTo>
                  <a:pt x="0" y="0"/>
                </a:moveTo>
                <a:lnTo>
                  <a:pt x="1761235" y="0"/>
                </a:lnTo>
                <a:lnTo>
                  <a:pt x="1761235" y="1198746"/>
                </a:lnTo>
                <a:lnTo>
                  <a:pt x="0" y="1198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" name="Google Shape;91;p13"/>
          <p:cNvSpPr/>
          <p:nvPr userDrawn="1"/>
        </p:nvSpPr>
        <p:spPr>
          <a:xfrm>
            <a:off x="6344908" y="5970904"/>
            <a:ext cx="985663" cy="887096"/>
          </a:xfrm>
          <a:custGeom>
            <a:avLst/>
            <a:gdLst/>
            <a:ahLst/>
            <a:cxnLst/>
            <a:rect l="l" t="t" r="r" b="b"/>
            <a:pathLst>
              <a:path w="1476648" h="1328983" extrusionOk="0">
                <a:moveTo>
                  <a:pt x="0" y="0"/>
                </a:moveTo>
                <a:lnTo>
                  <a:pt x="1476648" y="0"/>
                </a:lnTo>
                <a:lnTo>
                  <a:pt x="1476648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" name="Google Shape;92;p13"/>
          <p:cNvSpPr txBox="1"/>
          <p:nvPr userDrawn="1"/>
        </p:nvSpPr>
        <p:spPr>
          <a:xfrm>
            <a:off x="1382064" y="5665002"/>
            <a:ext cx="1005290" cy="27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Realizadores</a:t>
            </a:r>
            <a:endParaRPr sz="933" dirty="0"/>
          </a:p>
        </p:txBody>
      </p:sp>
      <p:sp>
        <p:nvSpPr>
          <p:cNvPr id="16" name="Google Shape;93;p13"/>
          <p:cNvSpPr txBox="1"/>
          <p:nvPr userDrawn="1"/>
        </p:nvSpPr>
        <p:spPr>
          <a:xfrm>
            <a:off x="7826162" y="5653075"/>
            <a:ext cx="12420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Apoiadores</a:t>
            </a:r>
            <a:endParaRPr sz="933" dirty="0"/>
          </a:p>
        </p:txBody>
      </p:sp>
      <p:sp>
        <p:nvSpPr>
          <p:cNvPr id="17" name="Google Shape;101;p14"/>
          <p:cNvSpPr/>
          <p:nvPr userDrawn="1"/>
        </p:nvSpPr>
        <p:spPr>
          <a:xfrm>
            <a:off x="2340312" y="6058836"/>
            <a:ext cx="1209176" cy="758263"/>
          </a:xfrm>
          <a:custGeom>
            <a:avLst/>
            <a:gdLst/>
            <a:ahLst/>
            <a:cxnLst/>
            <a:rect l="l" t="t" r="r" b="b"/>
            <a:pathLst>
              <a:path w="2065472" h="1297023" extrusionOk="0">
                <a:moveTo>
                  <a:pt x="0" y="0"/>
                </a:moveTo>
                <a:lnTo>
                  <a:pt x="2065472" y="0"/>
                </a:lnTo>
                <a:lnTo>
                  <a:pt x="2065472" y="1297023"/>
                </a:lnTo>
                <a:lnTo>
                  <a:pt x="0" y="1297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7" name="Google Shape;85;p13"/>
          <p:cNvSpPr/>
          <p:nvPr userDrawn="1"/>
        </p:nvSpPr>
        <p:spPr>
          <a:xfrm>
            <a:off x="318847" y="5938410"/>
            <a:ext cx="1063217" cy="887096"/>
          </a:xfrm>
          <a:custGeom>
            <a:avLst/>
            <a:gdLst/>
            <a:ahLst/>
            <a:cxnLst/>
            <a:rect l="l" t="t" r="r" b="b"/>
            <a:pathLst>
              <a:path w="1592834" h="1328983" extrusionOk="0">
                <a:moveTo>
                  <a:pt x="0" y="0"/>
                </a:moveTo>
                <a:lnTo>
                  <a:pt x="1592834" y="0"/>
                </a:lnTo>
                <a:lnTo>
                  <a:pt x="1592834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5131" t="-38889" r="-23197" b="-38889"/>
            </a:stretch>
          </a:blipFill>
          <a:ln>
            <a:noFill/>
          </a:ln>
        </p:spPr>
      </p:sp>
      <p:sp>
        <p:nvSpPr>
          <p:cNvPr id="8" name="Google Shape;86;p13"/>
          <p:cNvSpPr/>
          <p:nvPr userDrawn="1"/>
        </p:nvSpPr>
        <p:spPr>
          <a:xfrm>
            <a:off x="1525663" y="5990114"/>
            <a:ext cx="671050" cy="826985"/>
          </a:xfrm>
          <a:custGeom>
            <a:avLst/>
            <a:gdLst/>
            <a:ahLst/>
            <a:cxnLst/>
            <a:rect l="l" t="t" r="r" b="b"/>
            <a:pathLst>
              <a:path w="1492606" h="1688150" extrusionOk="0">
                <a:moveTo>
                  <a:pt x="0" y="0"/>
                </a:moveTo>
                <a:lnTo>
                  <a:pt x="1492605" y="0"/>
                </a:lnTo>
                <a:lnTo>
                  <a:pt x="1492605" y="1688149"/>
                </a:lnTo>
                <a:lnTo>
                  <a:pt x="0" y="168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" name="Google Shape;87;p13"/>
          <p:cNvSpPr/>
          <p:nvPr userDrawn="1"/>
        </p:nvSpPr>
        <p:spPr>
          <a:xfrm>
            <a:off x="11059843" y="6031015"/>
            <a:ext cx="1133572" cy="828018"/>
          </a:xfrm>
          <a:custGeom>
            <a:avLst/>
            <a:gdLst/>
            <a:ahLst/>
            <a:cxnLst/>
            <a:rect l="l" t="t" r="r" b="b"/>
            <a:pathLst>
              <a:path w="1698235" h="1240477" extrusionOk="0">
                <a:moveTo>
                  <a:pt x="0" y="0"/>
                </a:moveTo>
                <a:lnTo>
                  <a:pt x="1698235" y="0"/>
                </a:lnTo>
                <a:lnTo>
                  <a:pt x="1698235" y="1240477"/>
                </a:lnTo>
                <a:lnTo>
                  <a:pt x="0" y="1240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9744" t="-34435" r="-17366" b="-26455"/>
            </a:stretch>
          </a:blipFill>
          <a:ln>
            <a:noFill/>
          </a:ln>
        </p:spPr>
      </p:sp>
      <p:sp>
        <p:nvSpPr>
          <p:cNvPr id="10" name="Google Shape;88;p13"/>
          <p:cNvSpPr/>
          <p:nvPr userDrawn="1"/>
        </p:nvSpPr>
        <p:spPr>
          <a:xfrm>
            <a:off x="9350027" y="6031015"/>
            <a:ext cx="1711957" cy="786084"/>
          </a:xfrm>
          <a:custGeom>
            <a:avLst/>
            <a:gdLst/>
            <a:ahLst/>
            <a:cxnLst/>
            <a:rect l="l" t="t" r="r" b="b"/>
            <a:pathLst>
              <a:path w="2568349" h="1196141" extrusionOk="0">
                <a:moveTo>
                  <a:pt x="0" y="0"/>
                </a:moveTo>
                <a:lnTo>
                  <a:pt x="2568349" y="0"/>
                </a:lnTo>
                <a:lnTo>
                  <a:pt x="2568349" y="1196141"/>
                </a:lnTo>
                <a:lnTo>
                  <a:pt x="0" y="1196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" name="Google Shape;89;p13"/>
          <p:cNvSpPr/>
          <p:nvPr userDrawn="1"/>
        </p:nvSpPr>
        <p:spPr>
          <a:xfrm>
            <a:off x="7414987" y="6248504"/>
            <a:ext cx="1821377" cy="466332"/>
          </a:xfrm>
          <a:custGeom>
            <a:avLst/>
            <a:gdLst/>
            <a:ahLst/>
            <a:cxnLst/>
            <a:rect l="l" t="t" r="r" b="b"/>
            <a:pathLst>
              <a:path w="2898936" h="652467" extrusionOk="0">
                <a:moveTo>
                  <a:pt x="0" y="0"/>
                </a:moveTo>
                <a:lnTo>
                  <a:pt x="2898936" y="0"/>
                </a:lnTo>
                <a:lnTo>
                  <a:pt x="2898936" y="652468"/>
                </a:lnTo>
                <a:lnTo>
                  <a:pt x="0" y="65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" name="Google Shape;90;p13"/>
          <p:cNvSpPr/>
          <p:nvPr userDrawn="1"/>
        </p:nvSpPr>
        <p:spPr>
          <a:xfrm>
            <a:off x="5107932" y="6066184"/>
            <a:ext cx="1043486" cy="750916"/>
          </a:xfrm>
          <a:custGeom>
            <a:avLst/>
            <a:gdLst/>
            <a:ahLst/>
            <a:cxnLst/>
            <a:rect l="l" t="t" r="r" b="b"/>
            <a:pathLst>
              <a:path w="1761235" h="1198746" extrusionOk="0">
                <a:moveTo>
                  <a:pt x="0" y="0"/>
                </a:moveTo>
                <a:lnTo>
                  <a:pt x="1761235" y="0"/>
                </a:lnTo>
                <a:lnTo>
                  <a:pt x="1761235" y="1198746"/>
                </a:lnTo>
                <a:lnTo>
                  <a:pt x="0" y="1198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" name="Google Shape;91;p13"/>
          <p:cNvSpPr/>
          <p:nvPr userDrawn="1"/>
        </p:nvSpPr>
        <p:spPr>
          <a:xfrm>
            <a:off x="6344908" y="5970904"/>
            <a:ext cx="985663" cy="887096"/>
          </a:xfrm>
          <a:custGeom>
            <a:avLst/>
            <a:gdLst/>
            <a:ahLst/>
            <a:cxnLst/>
            <a:rect l="l" t="t" r="r" b="b"/>
            <a:pathLst>
              <a:path w="1476648" h="1328983" extrusionOk="0">
                <a:moveTo>
                  <a:pt x="0" y="0"/>
                </a:moveTo>
                <a:lnTo>
                  <a:pt x="1476648" y="0"/>
                </a:lnTo>
                <a:lnTo>
                  <a:pt x="1476648" y="1328983"/>
                </a:lnTo>
                <a:lnTo>
                  <a:pt x="0" y="1328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92;p13"/>
          <p:cNvSpPr txBox="1"/>
          <p:nvPr userDrawn="1"/>
        </p:nvSpPr>
        <p:spPr>
          <a:xfrm>
            <a:off x="1382064" y="5665002"/>
            <a:ext cx="1005290" cy="27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Realizadores</a:t>
            </a:r>
            <a:endParaRPr sz="933" dirty="0"/>
          </a:p>
        </p:txBody>
      </p:sp>
      <p:sp>
        <p:nvSpPr>
          <p:cNvPr id="15" name="Google Shape;93;p13"/>
          <p:cNvSpPr txBox="1"/>
          <p:nvPr userDrawn="1"/>
        </p:nvSpPr>
        <p:spPr>
          <a:xfrm>
            <a:off x="7826162" y="5653075"/>
            <a:ext cx="12420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9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Apoiadores</a:t>
            </a:r>
            <a:endParaRPr sz="933" dirty="0"/>
          </a:p>
        </p:txBody>
      </p:sp>
      <p:sp>
        <p:nvSpPr>
          <p:cNvPr id="21" name="Google Shape;101;p14"/>
          <p:cNvSpPr/>
          <p:nvPr userDrawn="1"/>
        </p:nvSpPr>
        <p:spPr>
          <a:xfrm>
            <a:off x="2340312" y="6058836"/>
            <a:ext cx="1209176" cy="758263"/>
          </a:xfrm>
          <a:custGeom>
            <a:avLst/>
            <a:gdLst/>
            <a:ahLst/>
            <a:cxnLst/>
            <a:rect l="l" t="t" r="r" b="b"/>
            <a:pathLst>
              <a:path w="2065472" h="1297023" extrusionOk="0">
                <a:moveTo>
                  <a:pt x="0" y="0"/>
                </a:moveTo>
                <a:lnTo>
                  <a:pt x="2065472" y="0"/>
                </a:lnTo>
                <a:lnTo>
                  <a:pt x="2065472" y="1297023"/>
                </a:lnTo>
                <a:lnTo>
                  <a:pt x="0" y="1297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2133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867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333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333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81542" y="2937933"/>
            <a:ext cx="5181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067"/>
              <a:buNone/>
              <a:defRPr sz="1067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4713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4713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00" cy="2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3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096683" y="1023409"/>
            <a:ext cx="26946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096683" y="1449917"/>
            <a:ext cx="2694600" cy="2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3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33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383367" y="182033"/>
            <a:ext cx="3407700" cy="39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6406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1pPr>
            <a:lvl2pPr marL="914400" lvl="1" indent="-34713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–"/>
              <a:defRPr sz="1867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3266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4pPr>
            <a:lvl5pPr marL="2286000" lvl="4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»"/>
              <a:defRPr sz="1333"/>
            </a:lvl5pPr>
            <a:lvl6pPr marL="2743200" lvl="5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6pPr>
            <a:lvl7pPr marL="3200400" lvl="6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7pPr>
            <a:lvl8pPr marL="3657600" lvl="7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8pPr>
            <a:lvl9pPr marL="4114800" lvl="8" indent="-313267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04800" y="956733"/>
            <a:ext cx="2005500" cy="3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539300" y="-167700"/>
            <a:ext cx="3017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2133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867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333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333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154950" y="1447742"/>
            <a:ext cx="390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61000" y="126992"/>
            <a:ext cx="3900900" cy="4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2133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867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333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333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333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3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 algn="l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/>
            </a:lvl1pPr>
            <a:lvl2pPr marL="0" lvl="1" indent="0" algn="r">
              <a:spcBef>
                <a:spcPts val="0"/>
              </a:spcBef>
              <a:buNone/>
              <a:defRPr sz="800"/>
            </a:lvl2pPr>
            <a:lvl3pPr marL="0" lvl="2" indent="0" algn="r">
              <a:spcBef>
                <a:spcPts val="0"/>
              </a:spcBef>
              <a:buNone/>
              <a:defRPr sz="800"/>
            </a:lvl3pPr>
            <a:lvl4pPr marL="0" lvl="3" indent="0" algn="r">
              <a:spcBef>
                <a:spcPts val="0"/>
              </a:spcBef>
              <a:buNone/>
              <a:defRPr sz="800"/>
            </a:lvl4pPr>
            <a:lvl5pPr marL="0" lvl="4" indent="0" algn="r">
              <a:spcBef>
                <a:spcPts val="0"/>
              </a:spcBef>
              <a:buNone/>
              <a:defRPr sz="800"/>
            </a:lvl5pPr>
            <a:lvl6pPr marL="0" lvl="5" indent="0" algn="r">
              <a:spcBef>
                <a:spcPts val="0"/>
              </a:spcBef>
              <a:buNone/>
              <a:defRPr sz="800"/>
            </a:lvl6pPr>
            <a:lvl7pPr marL="0" lvl="6" indent="0" algn="r">
              <a:spcBef>
                <a:spcPts val="0"/>
              </a:spcBef>
              <a:buNone/>
              <a:defRPr sz="800"/>
            </a:lvl7pPr>
            <a:lvl8pPr marL="0" lvl="7" indent="0" algn="r">
              <a:spcBef>
                <a:spcPts val="0"/>
              </a:spcBef>
              <a:buNone/>
              <a:defRPr sz="800"/>
            </a:lvl8pPr>
            <a:lvl9pPr marL="0" lvl="8" indent="0" algn="r">
              <a:spcBef>
                <a:spcPts val="0"/>
              </a:spcBef>
              <a:buNone/>
              <a:defRPr sz="8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33"/>
              <a:buNone/>
              <a:defRPr sz="12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marR="0" lvl="0" indent="-364066" algn="l" rtl="0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7134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3266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326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933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933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020"/>
            </a:gs>
            <a:gs pos="100000">
              <a:srgbClr val="070B14"/>
            </a:gs>
          </a:gsLst>
          <a:lin scaled="0" ang="1620000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-2743200" y="-2926080"/>
            <a:ext cx="6400800" cy="6400800"/>
          </a:xfrm>
          <a:prstGeom prst="ellipse">
            <a:avLst/>
          </a:prstGeom>
          <a:solidFill>
            <a:srgbClr val="7DD3F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"/>
            <a:ext cx="3977639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m 1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9" t="20314" r="19849" b="36665"/>
          <a:stretch/>
        </p:blipFill>
        <p:spPr bwMode="auto">
          <a:xfrm>
            <a:off x="713232" y="566928"/>
            <a:ext cx="3657600" cy="13807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4892040" y="566928"/>
            <a:ext cx="67665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DD3FC"/>
                </a:solidFill>
                <a:latin typeface="Segoe UI"/>
              </a:rPr>
              <a:t>SIMPÓSIO DE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600" b="1">
                <a:solidFill>
                  <a:srgbClr val="E6EBF5"/>
                </a:solidFill>
                <a:latin typeface="Segoe UI"/>
              </a:rPr>
              <a:t>INOVAÇÃO, TECNOLOGIA, EMPREENDEDORISMO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600" b="1">
                <a:solidFill>
                  <a:srgbClr val="E6EBF5"/>
                </a:solidFill>
                <a:latin typeface="Segoe UI"/>
              </a:rPr>
              <a:t>E CIÊNCIAS COMPUTACIONAIS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783080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4A3B8"/>
                </a:solidFill>
                <a:latin typeface="Consolas"/>
              </a:rPr>
              <a:t>SINTEC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50" b="1">
                <a:solidFill>
                  <a:srgbClr val="7DD3FC"/>
                </a:solidFill>
                <a:latin typeface="Segoe UI"/>
              </a:rPr>
              <a:t>EQUINOX MOBILE: </a:t>
            </a:r>
            <a:r>
              <a:rPr sz="3050" b="1">
                <a:solidFill>
                  <a:srgbClr val="FFFFFF"/>
                </a:solidFill>
                <a:latin typeface="Segoe UI"/>
              </a:rPr>
              <a:t>Aplicativo Móvel Multi-tenant e Offline-First para Gestão Georreferenciada de Usinas Fotovoltaicas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01618"/>
            <a:ext cx="6675120" cy="357530"/>
          </a:xfrm>
          <a:prstGeom prst="roundRect">
            <a:avLst>
              <a:gd name="adj" fmla="val 50000"/>
            </a:avLst>
          </a:prstGeom>
          <a:solidFill>
            <a:srgbClr val="A78BFA">
              <a:alpha val="14000"/>
            </a:srgbClr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01618"/>
            <a:ext cx="6675120" cy="3575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A78BFA"/>
                </a:solidFill>
                <a:latin typeface="Segoe UI"/>
              </a:rPr>
              <a:t>ÁREA TEMÁTICA  </a:t>
            </a:r>
            <a:r>
              <a:rPr sz="1300" b="0">
                <a:solidFill>
                  <a:srgbClr val="E6EBF5"/>
                </a:solidFill>
                <a:latin typeface="Segoe UI"/>
              </a:rPr>
              <a:t>Projeto de Extensão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23410"/>
            <a:ext cx="3566160" cy="101041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78858"/>
            <a:ext cx="54864" cy="69951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16678"/>
            <a:ext cx="3200400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34D399"/>
                </a:solidFill>
                <a:latin typeface="Consolas"/>
              </a:rPr>
              <a:t>AUTOR E APRESENTADOR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74985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Victor Couto Zanaroli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107381"/>
            <a:ext cx="3200400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4A3B8"/>
                </a:solidFill>
                <a:latin typeface="Consolas"/>
              </a:rPr>
              <a:t>victorzanaroli@gmail.com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4423410"/>
            <a:ext cx="3566160" cy="101041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79" y="4578858"/>
            <a:ext cx="54864" cy="69951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1999" y="4516678"/>
            <a:ext cx="3200400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60A5FA"/>
                </a:solidFill>
                <a:latin typeface="Consolas"/>
              </a:rPr>
              <a:t>AUTOR E APRESENTADOR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999" y="474985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Júlio Ignácio Miranda Neto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1999" y="5107381"/>
            <a:ext cx="3200400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4A3B8"/>
                </a:solidFill>
                <a:latin typeface="Consolas"/>
              </a:rPr>
              <a:t>jjulio2468@gmail.com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4423410"/>
            <a:ext cx="3566160" cy="101041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19" y="4578858"/>
            <a:ext cx="54864" cy="699516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516678"/>
            <a:ext cx="3200400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B923C"/>
                </a:solidFill>
                <a:latin typeface="Consolas"/>
              </a:rPr>
              <a:t>ORIENTADOR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74985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Lázaro Eduardo da Silva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107381"/>
            <a:ext cx="3200400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4A3B8"/>
                </a:solidFill>
                <a:latin typeface="Consolas"/>
              </a:rPr>
              <a:t>lazaro@cefetmg.br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8007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0926" y="0"/>
            <a:ext cx="280070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1853" y="0"/>
            <a:ext cx="28007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779" y="0"/>
            <a:ext cx="280070" cy="6400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3706" y="0"/>
            <a:ext cx="280070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020"/>
            </a:gs>
            <a:gs pos="100000">
              <a:srgbClr val="070B14"/>
            </a:gs>
          </a:gsLst>
          <a:lin scaled="0" ang="16200000"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743200" y="-2926080"/>
            <a:ext cx="6400800" cy="6400800"/>
          </a:xfrm>
          <a:prstGeom prst="ellipse">
            <a:avLst/>
          </a:prstGeom>
          <a:solidFill>
            <a:srgbClr val="7DD3F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490472" cy="365760"/>
          </a:xfrm>
          <a:prstGeom prst="roundRect">
            <a:avLst>
              <a:gd name="adj" fmla="val 50000"/>
            </a:avLst>
          </a:prstGeom>
          <a:solidFill>
            <a:srgbClr val="7DD3FC">
              <a:alpha val="12000"/>
            </a:srgbClr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484632"/>
            <a:ext cx="91440" cy="9144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11247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7DD3FC"/>
                </a:solidFill>
                <a:latin typeface="Segoe UI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47472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7DD3FC"/>
                </a:solidFill>
                <a:latin typeface="Consolas"/>
              </a:rPr>
              <a:t>02</a:t>
            </a:r>
            <a:r>
              <a:rPr sz="1400" b="0">
                <a:solidFill>
                  <a:srgbClr val="94A3B8"/>
                </a:solidFill>
                <a:latin typeface="Consolas"/>
              </a:rPr>
              <a:t>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Digitalizar a coleta, </a:t>
            </a:r>
            <a:r>
              <a:rPr sz="3400" b="1">
                <a:solidFill>
                  <a:srgbClr val="7DD3FC"/>
                </a:solidFill>
                <a:latin typeface="Segoe UI"/>
              </a:rPr>
              <a:t>sem depender de internet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4572000" cy="3680917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3605"/>
            <a:ext cx="54864" cy="3225546"/>
          </a:xfrm>
          <a:prstGeom prst="rect">
            <a:avLst/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5658"/>
            <a:ext cx="4023360" cy="2276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7DD3FC"/>
                </a:solidFill>
                <a:latin typeface="Consolas"/>
              </a:rPr>
              <a:t>OBJETIVO GERAL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77186"/>
            <a:ext cx="402336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6EBF5"/>
                </a:solidFill>
                <a:latin typeface="Segoe UI"/>
              </a:rPr>
              <a:t>Desenvolver um aplicativo móvel multi-tenant e offline-first que digitalize a coleta de consumo e geração fotovoltaica (kWh) em usinas de regiões rurais e remotas, garantindo integridade dos dados e auditoria georreferenciada sem conectividade contínua.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645920"/>
            <a:ext cx="3035808" cy="1783537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60" y="1835658"/>
            <a:ext cx="54864" cy="1404061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797710"/>
            <a:ext cx="914400" cy="2276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34D39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055754"/>
            <a:ext cx="2532887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Operação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404871"/>
            <a:ext cx="2532887" cy="9183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5E1"/>
                </a:solidFill>
                <a:latin typeface="Segoe UI"/>
              </a:rPr>
              <a:t>Persistência local em SQLite com UUIDv4 gerados no domínio, sem colisão de dados.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1645920"/>
            <a:ext cx="3035808" cy="1783537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13648" y="1835658"/>
            <a:ext cx="54864" cy="1404061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1797710"/>
            <a:ext cx="914400" cy="2276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60A5FA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2055754"/>
            <a:ext cx="2532887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Comprovação de presença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404871"/>
            <a:ext cx="2532887" cy="9183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5E1"/>
                </a:solidFill>
                <a:latin typeface="Segoe UI"/>
              </a:rPr>
              <a:t>Câmera e GPS nativos, com compressão automática das fotos dos medidores.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3543300"/>
            <a:ext cx="3035808" cy="1783537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94960" y="3733037"/>
            <a:ext cx="54864" cy="1404061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3695090"/>
            <a:ext cx="914400" cy="2276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78BFA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953134"/>
            <a:ext cx="2532887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Sincronização resiliente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302252"/>
            <a:ext cx="2532887" cy="9183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5E1"/>
                </a:solidFill>
                <a:latin typeface="Segoe UI"/>
              </a:rPr>
              <a:t>Fila operacional (action queue) enviando à nuvem Supabase quando a rede volta.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13648" y="3543300"/>
            <a:ext cx="3035808" cy="1783537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13648" y="3733037"/>
            <a:ext cx="54864" cy="1404061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3695090"/>
            <a:ext cx="914400" cy="2276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B923C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3953134"/>
            <a:ext cx="2532887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Gestão multi-tenant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4302252"/>
            <a:ext cx="2532887" cy="9183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5E1"/>
                </a:solidFill>
                <a:latin typeface="Segoe UI"/>
              </a:rPr>
              <a:t>Empresas, usinas e perfis de usuário com autorização controlada.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550997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1853" y="0"/>
            <a:ext cx="550997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83706" y="0"/>
            <a:ext cx="550997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25559" y="0"/>
            <a:ext cx="550997" cy="6400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67412" y="0"/>
            <a:ext cx="550997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020"/>
            </a:gs>
            <a:gs pos="100000">
              <a:srgbClr val="070B14"/>
            </a:gs>
          </a:gsLst>
          <a:lin scaled="0" ang="16200000"/>
        </a:gra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743200" y="-2926080"/>
            <a:ext cx="6400800" cy="6400800"/>
          </a:xfrm>
          <a:prstGeom prst="ellipse">
            <a:avLst/>
          </a:prstGeom>
          <a:solidFill>
            <a:srgbClr val="7DD3F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107692" cy="365760"/>
          </a:xfrm>
          <a:prstGeom prst="roundRect">
            <a:avLst>
              <a:gd name="adj" fmla="val 50000"/>
            </a:avLst>
          </a:prstGeom>
          <a:solidFill>
            <a:srgbClr val="FB923C">
              <a:alpha val="12000"/>
            </a:srgbClr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484632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17419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B923C"/>
                </a:solidFill>
                <a:latin typeface="Segoe UI"/>
              </a:rPr>
              <a:t>JUSTIFICATIVA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47472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FB923C"/>
                </a:solidFill>
                <a:latin typeface="Consolas"/>
              </a:rPr>
              <a:t>03</a:t>
            </a:r>
            <a:r>
              <a:rPr sz="1400" b="0">
                <a:solidFill>
                  <a:srgbClr val="94A3B8"/>
                </a:solidFill>
                <a:latin typeface="Consolas"/>
              </a:rPr>
              <a:t>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Onde a rede falha, </a:t>
            </a:r>
            <a:r>
              <a:rPr sz="3400" b="1">
                <a:solidFill>
                  <a:srgbClr val="FB923C"/>
                </a:solidFill>
                <a:latin typeface="Segoe UI"/>
              </a:rPr>
              <a:t>o dado não pode falhar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9384"/>
            <a:ext cx="182880" cy="4114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6400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Conectividade instável. </a:t>
            </a:r>
            <a:r>
              <a:rPr sz="1600" b="0">
                <a:solidFill>
                  <a:srgbClr val="CBD5E1"/>
                </a:solidFill>
                <a:latin typeface="Segoe UI"/>
              </a:rPr>
              <a:t>Usinas em regiões rurais e remotas operam com rede ausente ou intermitente.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98064"/>
            <a:ext cx="182880" cy="4114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6400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Faturamento depende da leitura. </a:t>
            </a:r>
            <a:r>
              <a:rPr sz="1600" b="0">
                <a:solidFill>
                  <a:srgbClr val="CBD5E1"/>
                </a:solidFill>
                <a:latin typeface="Segoe UI"/>
              </a:rPr>
              <a:t>O consumo e a geração em kWh precisam ser registrados com confiabilidade.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66744"/>
            <a:ext cx="182880" cy="4114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39"/>
            <a:ext cx="6400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Auditoria no campo. </a:t>
            </a:r>
            <a:r>
              <a:rPr sz="1600" b="0">
                <a:solidFill>
                  <a:srgbClr val="CBD5E1"/>
                </a:solidFill>
                <a:latin typeface="Segoe UI"/>
              </a:rPr>
              <a:t>Foto do medidor e coordenadas GPS comprovam a presença e a medição.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35424"/>
            <a:ext cx="182880" cy="4114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6400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Múltiplas empresas. </a:t>
            </a:r>
            <a:r>
              <a:rPr sz="1600" b="0">
                <a:solidFill>
                  <a:srgbClr val="CBD5E1"/>
                </a:solidFill>
                <a:latin typeface="Segoe UI"/>
              </a:rPr>
              <a:t>Um único app atende vários clientes, isolando dados e perfis (multi-tenant).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828800"/>
            <a:ext cx="3867912" cy="3429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2103120"/>
            <a:ext cx="54864" cy="28803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574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B923C"/>
                </a:solidFill>
                <a:latin typeface="Consolas"/>
              </a:rPr>
              <a:t>A PROPOSTA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468880"/>
            <a:ext cx="33832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B923C"/>
                </a:solidFill>
                <a:latin typeface="Segoe UI"/>
              </a:rPr>
              <a:t>Offline-first</a:t>
            </a:r>
            <a:r>
              <a:rPr sz="1800" b="0">
                <a:solidFill>
                  <a:srgbClr val="E6EBF5"/>
                </a:solidFill>
                <a:latin typeface="Segoe UI"/>
              </a:rPr>
              <a:t>: o dispositivo é a fonte única de verdade em campo; a nuvem recebe os dados depois, de forma assíncrona e sem perdas.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821923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779" y="0"/>
            <a:ext cx="821923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25559" y="0"/>
            <a:ext cx="821923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38339" y="0"/>
            <a:ext cx="821923" cy="6400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51118" y="0"/>
            <a:ext cx="821923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020"/>
            </a:gs>
            <a:gs pos="100000">
              <a:srgbClr val="070B14"/>
            </a:gs>
          </a:gsLst>
          <a:lin scaled="0" ang="16200000"/>
        </a:gra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743200" y="-2926080"/>
            <a:ext cx="6400800" cy="6400800"/>
          </a:xfrm>
          <a:prstGeom prst="ellipse">
            <a:avLst/>
          </a:prstGeom>
          <a:solidFill>
            <a:srgbClr val="7DD3F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860804" cy="365760"/>
          </a:xfrm>
          <a:prstGeom prst="roundRect">
            <a:avLst>
              <a:gd name="adj" fmla="val 50000"/>
            </a:avLst>
          </a:prstGeom>
          <a:solidFill>
            <a:srgbClr val="60A5FA">
              <a:alpha val="12000"/>
            </a:srgbClr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484632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14950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0A5FA"/>
                </a:solidFill>
                <a:latin typeface="Segoe UI"/>
              </a:rPr>
              <a:t>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47472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60A5FA"/>
                </a:solidFill>
                <a:latin typeface="Consolas"/>
              </a:rPr>
              <a:t>04</a:t>
            </a:r>
            <a:r>
              <a:rPr sz="1400" b="0">
                <a:solidFill>
                  <a:srgbClr val="94A3B8"/>
                </a:solidFill>
                <a:latin typeface="Consolas"/>
              </a:rPr>
              <a:t>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Engenharia de software </a:t>
            </a:r>
            <a:r>
              <a:rPr sz="3400" b="1">
                <a:solidFill>
                  <a:srgbClr val="60A5FA"/>
                </a:solidFill>
                <a:latin typeface="Segoe UI"/>
              </a:rPr>
              <a:t>rigorosa, de ponta a ponta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596896" cy="364296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596896" cy="364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34D399"/>
                </a:solidFill>
                <a:latin typeface="Segoe UI"/>
              </a:rPr>
              <a:t>Clean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5536" y="1676278"/>
            <a:ext cx="365760" cy="3035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645920"/>
            <a:ext cx="813816" cy="364296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645920"/>
            <a:ext cx="813816" cy="364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60A5FA"/>
                </a:solidFill>
                <a:latin typeface="Segoe UI"/>
              </a:rPr>
              <a:t>DDD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676278"/>
            <a:ext cx="365760" cy="3035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90872" y="1645920"/>
            <a:ext cx="813816" cy="364296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645920"/>
            <a:ext cx="813816" cy="364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472B6"/>
                </a:solidFill>
                <a:latin typeface="Segoe UI"/>
              </a:rPr>
              <a:t>TDD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676278"/>
            <a:ext cx="365760" cy="3035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0448" y="1645920"/>
            <a:ext cx="2240280" cy="364296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1645920"/>
            <a:ext cx="2240280" cy="364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B923C"/>
                </a:solidFill>
                <a:latin typeface="Segoe UI"/>
              </a:rPr>
              <a:t>Expo + Supabase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253081"/>
            <a:ext cx="2606040" cy="29978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42819"/>
            <a:ext cx="54864" cy="261838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2404872"/>
            <a:ext cx="2103120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Arquitetura Limpa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2753989"/>
            <a:ext cx="2103120" cy="2390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Camadas isoladas: domínio, aplicação, infraestrutura e apresentação. A regra de negócio não conhece banco, rede nem interface.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2253081"/>
            <a:ext cx="2606040" cy="29978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55848" y="2442819"/>
            <a:ext cx="54864" cy="261838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2404872"/>
            <a:ext cx="2103120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Domain-Driven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2753989"/>
            <a:ext cx="2103120" cy="2390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Entidades Usina, Leitura, Empresa e Usuário; value objects CNPJ, CoordenadasGPS, UUIDv4 e ValorKwh.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5" y="2253081"/>
            <a:ext cx="2606040" cy="29978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63055" y="2442819"/>
            <a:ext cx="54864" cy="261838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5" y="2404872"/>
            <a:ext cx="2103120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Test-Driven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5" y="2753989"/>
            <a:ext cx="2103120" cy="2390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Testes escritos antes do código com Jest e Testing Library, cobrindo domínio, casos de uso, infraestrutura e telas.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0263" y="2253081"/>
            <a:ext cx="2606040" cy="29978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70263" y="2442819"/>
            <a:ext cx="54864" cy="2618384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44584" y="2404872"/>
            <a:ext cx="2103120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Stack tecnológica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4584" y="2753989"/>
            <a:ext cx="2103120" cy="2390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React Native com Expo SDK 57 e TypeScript estrito; SQLite local; Supabase (Auth, Storage, PostgreSQL); Zod e React Hook Form.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11658"/>
            <a:ext cx="11064240" cy="2276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A inteligência artificial apoiou a estruturação arquitetural e o refinamento da redação técnica.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092850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3706" y="0"/>
            <a:ext cx="1092850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67412" y="0"/>
            <a:ext cx="109285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51118" y="0"/>
            <a:ext cx="1092850" cy="6400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34824" y="0"/>
            <a:ext cx="1092850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9689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020"/>
            </a:gs>
            <a:gs pos="100000">
              <a:srgbClr val="070B14"/>
            </a:gs>
          </a:gsLst>
          <a:lin scaled="0" ang="16200000"/>
        </a:gra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743200" y="-2926080"/>
            <a:ext cx="6400800" cy="6400800"/>
          </a:xfrm>
          <a:prstGeom prst="ellipse">
            <a:avLst/>
          </a:prstGeom>
          <a:solidFill>
            <a:srgbClr val="7DD3F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3712464" cy="365760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48463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3346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78BFA"/>
                </a:solidFill>
                <a:latin typeface="Segoe UI"/>
              </a:rPr>
              <a:t>DESCRIÇÃO DO PROJETO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47472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A78BFA"/>
                </a:solidFill>
                <a:latin typeface="Consolas"/>
              </a:rPr>
              <a:t>05</a:t>
            </a:r>
            <a:r>
              <a:rPr sz="1400" b="0">
                <a:solidFill>
                  <a:srgbClr val="94A3B8"/>
                </a:solidFill>
                <a:latin typeface="Consolas"/>
              </a:rPr>
              <a:t>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Arquitetura em </a:t>
            </a:r>
            <a:r>
              <a:rPr sz="3600" b="1">
                <a:solidFill>
                  <a:srgbClr val="A78BFA"/>
                </a:solidFill>
                <a:latin typeface="Segoe UI"/>
              </a:rPr>
              <a:t>camadas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83867"/>
            <a:ext cx="6858000" cy="774131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83867"/>
            <a:ext cx="2148840" cy="774131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83867"/>
            <a:ext cx="2148840" cy="7741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0B1020"/>
                </a:solidFill>
                <a:latin typeface="Segoe UI"/>
              </a:rPr>
              <a:t>APRESENTAÇÃO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683867"/>
            <a:ext cx="4297680" cy="7741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CBD5E1"/>
                </a:solidFill>
                <a:latin typeface="Segoe UI"/>
              </a:rPr>
              <a:t>Telas Expo Router, componentes e hooks controladores (12 telas)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79430"/>
            <a:ext cx="6858000" cy="774131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79430"/>
            <a:ext cx="2148840" cy="774131"/>
          </a:xfrm>
          <a:prstGeom prst="roundRect">
            <a:avLst>
              <a:gd name="adj" fmla="val 10000"/>
            </a:avLst>
          </a:prstGeom>
          <a:solidFill>
            <a:srgbClr val="60A5F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79430"/>
            <a:ext cx="2148840" cy="7741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0B1020"/>
                </a:solidFill>
                <a:latin typeface="Segoe UI"/>
              </a:rPr>
              <a:t>APLICAÇÃO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579430"/>
            <a:ext cx="4297680" cy="7741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CBD5E1"/>
                </a:solidFill>
                <a:latin typeface="Segoe UI"/>
              </a:rPr>
              <a:t>Casos de uso: registrar leitura, cadastrar usina, autorizar usuário… (8)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993"/>
            <a:ext cx="6858000" cy="774131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474993"/>
            <a:ext cx="2148840" cy="774131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74993"/>
            <a:ext cx="2148840" cy="7741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0B1020"/>
                </a:solidFill>
                <a:latin typeface="Segoe UI"/>
              </a:rPr>
              <a:t>DOMÍNIO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474993"/>
            <a:ext cx="4297680" cy="7741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CBD5E1"/>
                </a:solidFill>
                <a:latin typeface="Segoe UI"/>
              </a:rPr>
              <a:t>Entidades, value objects, serviços e portas (interfaces) puras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70557"/>
            <a:ext cx="6858000" cy="774131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370557"/>
            <a:ext cx="2148840" cy="774131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70557"/>
            <a:ext cx="2148840" cy="7741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0B1020"/>
                </a:solidFill>
                <a:latin typeface="Segoe UI"/>
              </a:rPr>
              <a:t>INFRAESTRUTURA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370557"/>
            <a:ext cx="4297680" cy="7741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CBD5E1"/>
                </a:solidFill>
                <a:latin typeface="Segoe UI"/>
              </a:rPr>
              <a:t>SQLite, Supabase, câmera, GPS, SecureStore e monitor de rede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1683867"/>
            <a:ext cx="3867912" cy="349117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1911553"/>
            <a:ext cx="54864" cy="30358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873605"/>
            <a:ext cx="3383280" cy="2276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A78BFA"/>
                </a:solidFill>
                <a:latin typeface="Consolas"/>
              </a:rPr>
              <a:t>REGRA DE DEPENDÊNCIA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215134"/>
            <a:ext cx="3383280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BF5"/>
                </a:solidFill>
                <a:latin typeface="Segoe UI"/>
              </a:rPr>
              <a:t>Tudo aponta para o </a:t>
            </a:r>
            <a:r>
              <a:rPr sz="2100" b="1">
                <a:solidFill>
                  <a:srgbClr val="34D399"/>
                </a:solidFill>
                <a:latin typeface="Segoe UI"/>
              </a:rPr>
              <a:t>domínio</a:t>
            </a:r>
            <a:r>
              <a:rPr sz="2100" b="0">
                <a:solidFill>
                  <a:srgbClr val="E6EBF5"/>
                </a:solidFill>
                <a:latin typeface="Segoe U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936138"/>
            <a:ext cx="3383280" cy="2200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BD5E1"/>
                </a:solidFill>
                <a:latin typeface="Segoe UI"/>
              </a:rPr>
              <a:t>Infraestrutura implementa as portas definidas no domínio, o que permite trocar SQLite, Supabase ou hardware sem alterar regras de negócio e testar tudo com fakes em memória.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363776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54632" y="0"/>
            <a:ext cx="1363776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09265" y="0"/>
            <a:ext cx="1363776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63898" y="0"/>
            <a:ext cx="1363776" cy="6400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18531" y="0"/>
            <a:ext cx="1363776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020"/>
            </a:gs>
            <a:gs pos="100000">
              <a:srgbClr val="070B14"/>
            </a:gs>
          </a:gsLst>
          <a:lin scaled="0" ang="16200000"/>
        </a:gra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743200" y="-2926080"/>
            <a:ext cx="6400800" cy="6400800"/>
          </a:xfrm>
          <a:prstGeom prst="ellipse">
            <a:avLst/>
          </a:prstGeom>
          <a:solidFill>
            <a:srgbClr val="7DD3F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971800" cy="365760"/>
          </a:xfrm>
          <a:prstGeom prst="roundRect">
            <a:avLst>
              <a:gd name="adj" fmla="val 50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484632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472B6"/>
                </a:solidFill>
                <a:latin typeface="Segoe UI"/>
              </a:rPr>
              <a:t>ANDAMENTO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47472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F472B6"/>
                </a:solidFill>
                <a:latin typeface="Consolas"/>
              </a:rPr>
              <a:t>07</a:t>
            </a:r>
            <a:r>
              <a:rPr sz="1400" b="0">
                <a:solidFill>
                  <a:srgbClr val="94A3B8"/>
                </a:solidFill>
                <a:latin typeface="Consolas"/>
              </a:rPr>
              <a:t>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Prints e </a:t>
            </a:r>
            <a:r>
              <a:rPr sz="3400" b="1">
                <a:solidFill>
                  <a:srgbClr val="F472B6"/>
                </a:solidFill>
                <a:latin typeface="Segoe UI"/>
              </a:rPr>
              <a:t>evidências do andamento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606040" cy="872794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83867"/>
            <a:ext cx="118872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7DD3FC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83867"/>
            <a:ext cx="128016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4A3B8"/>
                </a:solidFill>
                <a:latin typeface="Consolas"/>
              </a:rPr>
              <a:t>TELAS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645920"/>
            <a:ext cx="2606040" cy="872794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683867"/>
            <a:ext cx="118872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7DD3FC"/>
                </a:solidFill>
                <a:latin typeface="Segoe U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83867"/>
            <a:ext cx="128016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4A3B8"/>
                </a:solidFill>
                <a:latin typeface="Consolas"/>
              </a:rPr>
              <a:t>CASOS DE USO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645920"/>
            <a:ext cx="2606040" cy="872794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5" y="1683867"/>
            <a:ext cx="118872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7DD3FC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1683867"/>
            <a:ext cx="128016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4A3B8"/>
                </a:solidFill>
                <a:latin typeface="Consolas"/>
              </a:rPr>
              <a:t>ENTIDADES DE DOMÍNIO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3" y="1645920"/>
            <a:ext cx="2606040" cy="872794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1683867"/>
            <a:ext cx="118872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7DD3FC"/>
                </a:solidFill>
                <a:latin typeface="Segoe UI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3" y="1683867"/>
            <a:ext cx="128016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4A3B8"/>
                </a:solidFill>
                <a:latin typeface="Consolas"/>
              </a:rPr>
              <a:t>ARQUIVOS DE TESTE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2670505"/>
            <a:ext cx="1783080" cy="239069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rint_0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70505"/>
            <a:ext cx="1783080" cy="23906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5137099"/>
            <a:ext cx="260604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CBD5E1"/>
                </a:solidFill>
                <a:latin typeface="Segoe UI"/>
              </a:rPr>
              <a:t>Login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2670505"/>
            <a:ext cx="1783080" cy="239069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rint_02_usu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670505"/>
            <a:ext cx="1783080" cy="239069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55848" y="5137099"/>
            <a:ext cx="260604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CBD5E1"/>
                </a:solidFill>
                <a:latin typeface="Segoe UI"/>
              </a:rPr>
              <a:t>Painel Usuário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2670505"/>
            <a:ext cx="1783080" cy="239069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rint_03_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2670505"/>
            <a:ext cx="1783080" cy="239069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63055" y="5137099"/>
            <a:ext cx="260604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CBD5E1"/>
                </a:solidFill>
                <a:latin typeface="Segoe UI"/>
              </a:rPr>
              <a:t>Painel Administrador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1743" y="2670505"/>
            <a:ext cx="1783080" cy="239069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rint_04_superadm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743" y="2670505"/>
            <a:ext cx="1783080" cy="239069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70263" y="5137099"/>
            <a:ext cx="260604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CBD5E1"/>
                </a:solidFill>
                <a:latin typeface="Segoe UI"/>
              </a:rPr>
              <a:t>Super Administrador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905629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96485" y="0"/>
            <a:ext cx="1905629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2971" y="0"/>
            <a:ext cx="1905629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89457" y="0"/>
            <a:ext cx="1905629" cy="6400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85943" y="0"/>
            <a:ext cx="1905629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020"/>
            </a:gs>
            <a:gs pos="100000">
              <a:srgbClr val="070B14"/>
            </a:gs>
          </a:gsLst>
          <a:lin scaled="0" ang="16200000"/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743200" y="-2926080"/>
            <a:ext cx="6400800" cy="6400800"/>
          </a:xfrm>
          <a:prstGeom prst="ellipse">
            <a:avLst/>
          </a:prstGeom>
          <a:solidFill>
            <a:srgbClr val="7DD3F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971800" cy="365760"/>
          </a:xfrm>
          <a:prstGeom prst="roundRect">
            <a:avLst>
              <a:gd name="adj" fmla="val 50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48463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2606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4D399"/>
                </a:solidFill>
                <a:latin typeface="Segoe UI"/>
              </a:rPr>
              <a:t>CONSIDERAÇÕES FINAIS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47472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34D399"/>
                </a:solidFill>
                <a:latin typeface="Consolas"/>
              </a:rPr>
              <a:t>08</a:t>
            </a:r>
            <a:r>
              <a:rPr sz="1400" b="0">
                <a:solidFill>
                  <a:srgbClr val="94A3B8"/>
                </a:solidFill>
                <a:latin typeface="Consolas"/>
              </a:rPr>
              <a:t>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Confiabilidade </a:t>
            </a:r>
            <a:r>
              <a:rPr sz="3400" b="1">
                <a:solidFill>
                  <a:srgbClr val="34D399"/>
                </a:solidFill>
                <a:latin typeface="Segoe UI"/>
              </a:rPr>
              <a:t>operacional no campo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852160" cy="113842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35658"/>
            <a:ext cx="54864" cy="7589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97710"/>
            <a:ext cx="5349240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Fluxo de trabalho resiliente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46828"/>
            <a:ext cx="5349240" cy="531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Leituras offline executadas de forma fluida, sem travar a operação.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98189"/>
            <a:ext cx="5852160" cy="113842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87927"/>
            <a:ext cx="54864" cy="7589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49981"/>
            <a:ext cx="5349240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Mídias otimizadas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399099"/>
            <a:ext cx="5349240" cy="5312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Redução expressiva do tamanho das fotos armazenadas.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50461"/>
            <a:ext cx="5852160" cy="113842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40199"/>
            <a:ext cx="54864" cy="7589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302252"/>
            <a:ext cx="5349240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Sincronização eficiente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651369"/>
            <a:ext cx="5349240" cy="5312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Envio completo e automático após o restabelecimento da rede.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645920"/>
            <a:ext cx="4919472" cy="364296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873605"/>
            <a:ext cx="54864" cy="318759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835658"/>
            <a:ext cx="4389120" cy="2276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34D399"/>
                </a:solidFill>
                <a:latin typeface="Consolas"/>
              </a:rPr>
              <a:t>CONCLUSÃO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177186"/>
            <a:ext cx="438912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E6EBF5"/>
                </a:solidFill>
                <a:latin typeface="Segoe UI"/>
              </a:rPr>
              <a:t>A abordagem </a:t>
            </a:r>
            <a:r>
              <a:rPr sz="1800" b="1">
                <a:solidFill>
                  <a:srgbClr val="34D399"/>
                </a:solidFill>
                <a:latin typeface="Segoe UI"/>
              </a:rPr>
              <a:t>offline-first</a:t>
            </a:r>
            <a:r>
              <a:rPr sz="1800" b="0">
                <a:solidFill>
                  <a:srgbClr val="E6EBF5"/>
                </a:solidFill>
                <a:latin typeface="Segoe UI"/>
              </a:rPr>
              <a:t> combinada a padrões rigorosos de engenharia de software </a:t>
            </a:r>
            <a:r>
              <a:rPr sz="1800" b="1">
                <a:solidFill>
                  <a:srgbClr val="34D399"/>
                </a:solidFill>
                <a:latin typeface="Segoe UI"/>
              </a:rPr>
              <a:t>elimina falhas na coleta de medições</a:t>
            </a:r>
            <a:r>
              <a:rPr sz="1800" b="0">
                <a:solidFill>
                  <a:srgbClr val="E6EBF5"/>
                </a:solidFill>
                <a:latin typeface="Segoe UI"/>
              </a:rPr>
              <a:t> no campo, oferecendo alta confiabilidade operacional para a gestão distribuída de energia solar.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176556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7412" y="0"/>
            <a:ext cx="2176556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824" y="0"/>
            <a:ext cx="2176556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02237" y="0"/>
            <a:ext cx="2176556" cy="6400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69649" y="0"/>
            <a:ext cx="2176556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020"/>
            </a:gs>
            <a:gs pos="100000">
              <a:srgbClr val="070B14"/>
            </a:gs>
          </a:gsLst>
          <a:lin scaled="0" ang="16200000"/>
        </a:gra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743200" y="-2926080"/>
            <a:ext cx="6400800" cy="6400800"/>
          </a:xfrm>
          <a:prstGeom prst="ellipse">
            <a:avLst/>
          </a:prstGeom>
          <a:solidFill>
            <a:srgbClr val="7DD3F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3712464" cy="365760"/>
          </a:xfrm>
          <a:prstGeom prst="roundRect">
            <a:avLst>
              <a:gd name="adj" fmla="val 50000"/>
            </a:avLst>
          </a:prstGeom>
          <a:solidFill>
            <a:srgbClr val="7DD3FC">
              <a:alpha val="12000"/>
            </a:srgbClr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484632"/>
            <a:ext cx="91440" cy="9144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3346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7DD3FC"/>
                </a:solidFill>
                <a:latin typeface="Segoe UI"/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47472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7DD3FC"/>
                </a:solidFill>
                <a:latin typeface="Consolas"/>
              </a:rPr>
              <a:t>09</a:t>
            </a:r>
            <a:r>
              <a:rPr sz="1400" b="0">
                <a:solidFill>
                  <a:srgbClr val="94A3B8"/>
                </a:solidFill>
                <a:latin typeface="Consolas"/>
              </a:rPr>
              <a:t>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Referências </a:t>
            </a:r>
            <a:r>
              <a:rPr sz="3400" b="1">
                <a:solidFill>
                  <a:srgbClr val="7DD3FC"/>
                </a:solidFill>
                <a:latin typeface="Segoe UI"/>
              </a:rPr>
              <a:t>bibliográficas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440680" cy="79689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97710"/>
            <a:ext cx="54864" cy="49331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45920"/>
            <a:ext cx="498348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1. </a:t>
            </a:r>
            <a:r>
              <a:rPr sz="1150" b="1">
                <a:solidFill>
                  <a:srgbClr val="FFFFFF"/>
                </a:solidFill>
                <a:latin typeface="Segoe UI"/>
              </a:rPr>
              <a:t>BECK, Kent.</a:t>
            </a:r>
            <a:r>
              <a:rPr sz="1150" b="0">
                <a:solidFill>
                  <a:srgbClr val="CBD5E1"/>
                </a:solidFill>
                <a:latin typeface="Segoe UI"/>
              </a:rPr>
              <a:t> Test-Driven Development: By Example. Boston: Addison-Wesley, 2002.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56662"/>
            <a:ext cx="5440680" cy="79689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08452"/>
            <a:ext cx="54864" cy="4933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56662"/>
            <a:ext cx="498348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60A5FA"/>
                </a:solidFill>
                <a:latin typeface="Segoe UI"/>
              </a:rPr>
              <a:t>2. </a:t>
            </a:r>
            <a:r>
              <a:rPr sz="1150" b="1">
                <a:solidFill>
                  <a:srgbClr val="FFFFFF"/>
                </a:solidFill>
                <a:latin typeface="Segoe UI"/>
              </a:rPr>
              <a:t>EVANS, Eric.</a:t>
            </a:r>
            <a:r>
              <a:rPr sz="1150" b="0">
                <a:solidFill>
                  <a:srgbClr val="CBD5E1"/>
                </a:solidFill>
                <a:latin typeface="Segoe UI"/>
              </a:rPr>
              <a:t> Domain-Driven Design: Tackling Complexity in the Heart of Software. Boston: Addison-Wesley, 2003.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67403"/>
            <a:ext cx="5440680" cy="79689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19195"/>
            <a:ext cx="54864" cy="49331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467403"/>
            <a:ext cx="498348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A78BFA"/>
                </a:solidFill>
                <a:latin typeface="Segoe UI"/>
              </a:rPr>
              <a:t>3. </a:t>
            </a:r>
            <a:r>
              <a:rPr sz="1150" b="1">
                <a:solidFill>
                  <a:srgbClr val="FFFFFF"/>
                </a:solidFill>
                <a:latin typeface="Segoe UI"/>
              </a:rPr>
              <a:t>EXPO.</a:t>
            </a:r>
            <a:r>
              <a:rPr sz="1150" b="0">
                <a:solidFill>
                  <a:srgbClr val="CBD5E1"/>
                </a:solidFill>
                <a:latin typeface="Segoe UI"/>
              </a:rPr>
              <a:t> Expo Documentation - SDK 57. 2026. Disponível em: docs.expo.dev/versions/v57.0.0. Acesso em: 17 set. 2026.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78147"/>
            <a:ext cx="5440680" cy="79689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29937"/>
            <a:ext cx="54864" cy="49331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378147"/>
            <a:ext cx="498348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FB923C"/>
                </a:solidFill>
                <a:latin typeface="Segoe UI"/>
              </a:rPr>
              <a:t>4. </a:t>
            </a:r>
            <a:r>
              <a:rPr sz="1150" b="1">
                <a:solidFill>
                  <a:srgbClr val="FFFFFF"/>
                </a:solidFill>
                <a:latin typeface="Segoe UI"/>
              </a:rPr>
              <a:t>FOWLER, Martin.</a:t>
            </a:r>
            <a:r>
              <a:rPr sz="1150" b="0">
                <a:solidFill>
                  <a:srgbClr val="CBD5E1"/>
                </a:solidFill>
                <a:latin typeface="Segoe UI"/>
              </a:rPr>
              <a:t> Patterns of Enterprise Application Architecture. Boston: Addison-Wesley, 2002.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45920"/>
            <a:ext cx="5440680" cy="79689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797710"/>
            <a:ext cx="54864" cy="49331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645920"/>
            <a:ext cx="498348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5. </a:t>
            </a:r>
            <a:r>
              <a:rPr sz="1150" b="1">
                <a:solidFill>
                  <a:srgbClr val="FFFFFF"/>
                </a:solidFill>
                <a:latin typeface="Segoe UI"/>
              </a:rPr>
              <a:t>MARTIN, Robert C.</a:t>
            </a:r>
            <a:r>
              <a:rPr sz="1150" b="0">
                <a:solidFill>
                  <a:srgbClr val="CBD5E1"/>
                </a:solidFill>
                <a:latin typeface="Segoe UI"/>
              </a:rPr>
              <a:t> Clean Architecture: A Craftsman's Guide to Software Structure and Design. Upper Saddle River: Prentice Hall, 2017.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556662"/>
            <a:ext cx="5440680" cy="79689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708452"/>
            <a:ext cx="54864" cy="4933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556662"/>
            <a:ext cx="498348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60A5FA"/>
                </a:solidFill>
                <a:latin typeface="Segoe UI"/>
              </a:rPr>
              <a:t>6. </a:t>
            </a:r>
            <a:r>
              <a:rPr sz="1150" b="1">
                <a:solidFill>
                  <a:srgbClr val="FFFFFF"/>
                </a:solidFill>
                <a:latin typeface="Segoe UI"/>
              </a:rPr>
              <a:t>REACT NATIVE.</a:t>
            </a:r>
            <a:r>
              <a:rPr sz="1150" b="0">
                <a:solidFill>
                  <a:srgbClr val="CBD5E1"/>
                </a:solidFill>
                <a:latin typeface="Segoe UI"/>
              </a:rPr>
              <a:t> React Native: Learn the basics. 2026. Disponível em: reactnative.dev/docs/getting-started. Acesso em: 17 set. 2026.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467403"/>
            <a:ext cx="5440680" cy="79689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619195"/>
            <a:ext cx="54864" cy="49331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467403"/>
            <a:ext cx="498348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A78BFA"/>
                </a:solidFill>
                <a:latin typeface="Segoe UI"/>
              </a:rPr>
              <a:t>7. </a:t>
            </a:r>
            <a:r>
              <a:rPr sz="1150" b="1">
                <a:solidFill>
                  <a:srgbClr val="FFFFFF"/>
                </a:solidFill>
                <a:latin typeface="Segoe UI"/>
              </a:rPr>
              <a:t>SQLITE.</a:t>
            </a:r>
            <a:r>
              <a:rPr sz="1150" b="0">
                <a:solidFill>
                  <a:srgbClr val="CBD5E1"/>
                </a:solidFill>
                <a:latin typeface="Segoe UI"/>
              </a:rPr>
              <a:t> SQLite Documentation. 2026. Disponível em: sqlite.org/docs.html. Acesso em: 17 set. 2026.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378147"/>
            <a:ext cx="5440680" cy="796899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529937"/>
            <a:ext cx="54864" cy="49331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378147"/>
            <a:ext cx="4983480" cy="796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FB923C"/>
                </a:solidFill>
                <a:latin typeface="Segoe UI"/>
              </a:rPr>
              <a:t>8. </a:t>
            </a:r>
            <a:r>
              <a:rPr sz="1150" b="1">
                <a:solidFill>
                  <a:srgbClr val="FFFFFF"/>
                </a:solidFill>
                <a:latin typeface="Segoe UI"/>
              </a:rPr>
              <a:t>SUPABASE.</a:t>
            </a:r>
            <a:r>
              <a:rPr sz="1150" b="0">
                <a:solidFill>
                  <a:srgbClr val="CBD5E1"/>
                </a:solidFill>
                <a:latin typeface="Segoe UI"/>
              </a:rPr>
              <a:t> Supabase Documentation: Database &amp; Authentication. 2026. Disponível em: supabase.com/docs. Acesso em: 17 set. 2026.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2447483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38339" y="0"/>
            <a:ext cx="2447483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76678" y="0"/>
            <a:ext cx="2447483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017" y="0"/>
            <a:ext cx="2447483" cy="6400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53356" y="0"/>
            <a:ext cx="2447483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020"/>
            </a:gs>
            <a:gs pos="100000">
              <a:srgbClr val="070B1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926080"/>
            <a:ext cx="6400800" cy="6400800"/>
          </a:xfrm>
          <a:prstGeom prst="ellipse">
            <a:avLst/>
          </a:prstGeom>
          <a:solidFill>
            <a:srgbClr val="7DD3FC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3712464" cy="365760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48463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3346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78BFA"/>
                </a:solidFill>
                <a:latin typeface="Segoe UI"/>
              </a:rPr>
              <a:t>DESCRIÇÃO DO PROJETO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347472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A78BFA"/>
                </a:solidFill>
                <a:latin typeface="Consolas"/>
              </a:rPr>
              <a:t>06</a:t>
            </a:r>
            <a:r>
              <a:rPr sz="1400" b="0">
                <a:solidFill>
                  <a:srgbClr val="94A3B8"/>
                </a:solidFill>
                <a:latin typeface="Consolas"/>
              </a:rPr>
              <a:t>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Motor </a:t>
            </a:r>
            <a:r>
              <a:rPr sz="3400" b="1">
                <a:solidFill>
                  <a:srgbClr val="A78BFA"/>
                </a:solidFill>
                <a:latin typeface="Segoe UI"/>
              </a:rPr>
              <a:t>offline-first</a:t>
            </a:r>
            <a:r>
              <a:rPr sz="3400" b="1">
                <a:solidFill>
                  <a:srgbClr val="FFFFFF"/>
                </a:solidFill>
                <a:latin typeface="Segoe UI"/>
              </a:rPr>
              <a:t> e sincronização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83867"/>
            <a:ext cx="1828800" cy="986637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35658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34D399"/>
                </a:solidFill>
                <a:latin typeface="Segoe UI"/>
              </a:rPr>
              <a:t>Leitura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5134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94A3B8"/>
                </a:solidFill>
                <a:latin typeface="Consolas"/>
              </a:rPr>
              <a:t>foto + GPS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025396"/>
            <a:ext cx="429768" cy="3035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683867"/>
            <a:ext cx="1828800" cy="986637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1835658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60A5FA"/>
                </a:solidFill>
                <a:latin typeface="Segoe UI"/>
              </a:rP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215134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94A3B8"/>
                </a:solidFill>
                <a:latin typeface="Consolas"/>
              </a:rPr>
              <a:t>UUIDv4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025396"/>
            <a:ext cx="429768" cy="3035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1683867"/>
            <a:ext cx="1828800" cy="986637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1835658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A78BFA"/>
                </a:solidFill>
                <a:latin typeface="Segoe UI"/>
              </a:rPr>
              <a:t>Action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215134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94A3B8"/>
                </a:solidFill>
                <a:latin typeface="Consolas"/>
              </a:rPr>
              <a:t>fila de 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6" y="2025396"/>
            <a:ext cx="429768" cy="3035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1683867"/>
            <a:ext cx="1828800" cy="986637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1835658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B923C"/>
                </a:solidFill>
                <a:latin typeface="Segoe UI"/>
              </a:rPr>
              <a:t>SyncManager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215134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94A3B8"/>
                </a:solidFill>
                <a:latin typeface="Consolas"/>
              </a:rPr>
              <a:t>rede restabelecida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2025396"/>
            <a:ext cx="429768" cy="3035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02368" y="1683867"/>
            <a:ext cx="1828800" cy="986637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8" y="1835658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472B6"/>
                </a:solidFill>
                <a:latin typeface="Segoe UI"/>
              </a:rPr>
              <a:t>Supabase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215134"/>
            <a:ext cx="1828800" cy="303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94A3B8"/>
                </a:solidFill>
                <a:latin typeface="Consolas"/>
              </a:rPr>
              <a:t>nuvem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012033"/>
            <a:ext cx="3566160" cy="223890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201771"/>
            <a:ext cx="54864" cy="185943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3163824"/>
            <a:ext cx="3063239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Compressão de mídia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512941"/>
            <a:ext cx="3063239" cy="1631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Fotos dos medidores são comprimidas automaticamente em segundo plano, reduzindo o espaço local e o tráfego de envio.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3012033"/>
            <a:ext cx="3566160" cy="223890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79" y="3201771"/>
            <a:ext cx="54864" cy="18594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1999" y="3163824"/>
            <a:ext cx="3063239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Resolução de conflitos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1999" y="3512941"/>
            <a:ext cx="3063239" cy="1631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Sincronização incremental com resolução automática: prevalece o registro com data e hora mais recente.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012033"/>
            <a:ext cx="3566160" cy="223890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19" y="3201771"/>
            <a:ext cx="54864" cy="1859432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163824"/>
            <a:ext cx="3063239" cy="379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Perfis e autorização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512941"/>
            <a:ext cx="3063239" cy="1631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Cadastro de usuários pendentes, autorização por empresa e gestão de estrutura (usinas e equipes) pelo painel administrativo.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634703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25559" y="0"/>
            <a:ext cx="1634703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51118" y="0"/>
            <a:ext cx="1634703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76678" y="0"/>
            <a:ext cx="1634703" cy="6400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02237" y="0"/>
            <a:ext cx="1634703" cy="64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</Words>
  <Application>Microsoft Office PowerPoint</Application>
  <PresentationFormat>Widescreen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Usuario</cp:lastModifiedBy>
  <cp:revision>5</cp:revision>
  <dcterms:modified xsi:type="dcterms:W3CDTF">2026-10-09T21:19:29Z</dcterms:modified>
</cp:coreProperties>
</file>